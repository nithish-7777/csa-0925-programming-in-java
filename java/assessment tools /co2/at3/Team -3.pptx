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3" r:id="rId2"/>
    <p:sldId id="257" r:id="rId3"/>
    <p:sldId id="258" r:id="rId4"/>
    <p:sldId id="262" r:id="rId5"/>
    <p:sldId id="263" r:id="rId6"/>
    <p:sldId id="279" r:id="rId7"/>
    <p:sldId id="259" r:id="rId8"/>
    <p:sldId id="274" r:id="rId9"/>
    <p:sldId id="276" r:id="rId10"/>
    <p:sldId id="264" r:id="rId11"/>
    <p:sldId id="277" r:id="rId12"/>
    <p:sldId id="265" r:id="rId13"/>
    <p:sldId id="260" r:id="rId14"/>
    <p:sldId id="275" r:id="rId15"/>
    <p:sldId id="266" r:id="rId16"/>
    <p:sldId id="271" r:id="rId17"/>
    <p:sldId id="280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6"/>
  </p:normalViewPr>
  <p:slideViewPr>
    <p:cSldViewPr snapToGrid="0">
      <p:cViewPr varScale="1">
        <p:scale>
          <a:sx n="99" d="100"/>
          <a:sy n="99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3E771-1BF8-4DE0-8F4D-11115A1FEE76}" type="datetimeFigureOut">
              <a:rPr lang="en-BB" smtClean="0"/>
              <a:t>8/6/26</a:t>
            </a:fld>
            <a:endParaRPr lang="en-B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54585-D072-4028-AA3D-9674183F316A}" type="slidenum">
              <a:rPr lang="en-BB" smtClean="0"/>
              <a:t>‹#›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27791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54585-D072-4028-AA3D-9674183F316A}" type="slidenum">
              <a:rPr lang="en-BB" smtClean="0"/>
              <a:t>13</a:t>
            </a:fld>
            <a:endParaRPr lang="en-BB"/>
          </a:p>
        </p:txBody>
      </p:sp>
    </p:spTree>
    <p:extLst>
      <p:ext uri="{BB962C8B-B14F-4D97-AF65-F5344CB8AC3E}">
        <p14:creationId xmlns:p14="http://schemas.microsoft.com/office/powerpoint/2010/main" val="1502077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403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575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7649286" y="4953277"/>
            <a:ext cx="3757522" cy="18443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PAPINENI SISINDRI(192324122)</a:t>
            </a:r>
          </a:p>
          <a:p>
            <a:pPr fontAlgn="ctr"/>
            <a:r>
              <a:rPr lang="en-IN" dirty="0"/>
              <a:t>Nithish Raaju V </a:t>
            </a:r>
          </a:p>
          <a:p>
            <a:pPr font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Pavithran M </a:t>
            </a:r>
          </a:p>
          <a:p>
            <a:pPr fontAlgn="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764347" y="3691609"/>
            <a:ext cx="8210550" cy="10266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CSA0925- Programming in 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6F7507-CEAF-5036-635F-19A2D58E769F}"/>
              </a:ext>
            </a:extLst>
          </p:cNvPr>
          <p:cNvSpPr txBox="1"/>
          <p:nvPr/>
        </p:nvSpPr>
        <p:spPr>
          <a:xfrm>
            <a:off x="854204" y="4954992"/>
            <a:ext cx="4760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Sivasankar C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Department:CSE</a:t>
            </a:r>
            <a:endParaRPr lang="en-B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Google Shape;92;p1" descr="SSE-Computer Science and Engineering">
            <a:extLst>
              <a:ext uri="{FF2B5EF4-FFF2-40B4-BE49-F238E27FC236}">
                <a16:creationId xmlns:a16="http://schemas.microsoft.com/office/drawing/2014/main" id="{A8D3BD59-C105-7334-DD1B-798CFE5B192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31844" y="325684"/>
            <a:ext cx="9352722" cy="11096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0F2FE6-FACE-9A41-4B57-67EC70D3C0E8}"/>
              </a:ext>
            </a:extLst>
          </p:cNvPr>
          <p:cNvSpPr txBox="1"/>
          <p:nvPr/>
        </p:nvSpPr>
        <p:spPr>
          <a:xfrm>
            <a:off x="1764346" y="2584323"/>
            <a:ext cx="8210549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Adaptive Employment Readiness Platform Using Real-Time Industry Skill Demand Mapping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35" y="527586"/>
            <a:ext cx="10890929" cy="1097280"/>
          </a:xfrm>
        </p:spPr>
        <p:txBody>
          <a:bodyPr anchor="t">
            <a:norm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Background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622" y="1277005"/>
            <a:ext cx="10449781" cy="509863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622" y="172429"/>
            <a:ext cx="1459642" cy="1244429"/>
          </a:xfrm>
          <a:prstGeom prst="rect">
            <a:avLst/>
          </a:prstGeom>
        </p:spPr>
      </p:pic>
      <p:pic>
        <p:nvPicPr>
          <p:cNvPr id="5" name="Picture 4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438" y="106855"/>
            <a:ext cx="1469940" cy="1243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74EF21-1501-1C48-EE75-DBC5E97DBE7E}"/>
              </a:ext>
            </a:extLst>
          </p:cNvPr>
          <p:cNvSpPr txBox="1"/>
          <p:nvPr/>
        </p:nvSpPr>
        <p:spPr>
          <a:xfrm>
            <a:off x="450498" y="1589287"/>
            <a:ext cx="112910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belongs to the fields of Artificial Intelligence, Career Analytics, and Education Technology (EdTech).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students understand industry trends and develop job-ready skills through data-driven insights.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Scenario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graduates possess academic knowledge but lack the practical skills expected by employers.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Rapid changes in technology make it difficult for students to keep track of current industry requirements.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Project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need a platform that provides real-time information about trending skills and job market demands.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guidance can help users focus on the right skills and improve employability.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Users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Undergraduate students, fresh graduates, and job seekers preparing for careers in various industries.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Colleges and training institutions can also use the platform to improve student readiness.</a:t>
            </a:r>
          </a:p>
          <a:p>
            <a:pPr algn="just"/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535" y="482108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9510" y="1633831"/>
            <a:ext cx="12188395" cy="530180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Definition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lack awareness of the latest industry-required skills and technologies.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mismatch between academic learning and employer expectations.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decisions are frequently made without real-time market insights.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Current Systems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platforms provide static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career recommendations.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systems do not track real-time industry skill demand.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skill-gap analysis and learning guidance are limited.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Impact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students identify and develop industry-relevant skills.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employment readiness through personalized recommendations.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placement opportunities and career success rates.</a:t>
            </a:r>
          </a:p>
          <a:p>
            <a:pPr marL="0" indent="0">
              <a:lnSpc>
                <a:spcPct val="100000"/>
              </a:lnSpc>
              <a:buNone/>
            </a:pP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5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2132" y="160139"/>
            <a:ext cx="1469940" cy="12436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203" y="896985"/>
            <a:ext cx="10890929" cy="109728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194" y="1874975"/>
            <a:ext cx="10497100" cy="45273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platform that maps industry skill demand and evaluates employment readiness.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personalized recommendations that help users become job-ready.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job market data and identify the most in-demand skills across industries.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user skills with industry requirements and identify missing competencies.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students, fresh graduates, and entry-level job seekers seeking career guidance.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skill analysis, learning recommendations, and employment readiness assessment.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898" y="274770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162" y="201581"/>
            <a:ext cx="1469940" cy="1243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049020" y="1721485"/>
            <a:ext cx="9211945" cy="37211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1035" y="1135232"/>
            <a:ext cx="7964408" cy="1108323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IN" sz="3400" dirty="0">
                <a:latin typeface="Times New Roman" panose="02020603050405020304"/>
                <a:cs typeface="Times New Roman" panose="02020603050405020304"/>
              </a:rPr>
              <a:t>Literature Review</a:t>
            </a:r>
            <a:br>
              <a:rPr lang="en-IN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Straight Connector 12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611" y="191657"/>
            <a:ext cx="1469940" cy="1243657"/>
          </a:xfrm>
          <a:prstGeom prst="rect">
            <a:avLst/>
          </a:prstGeom>
        </p:spPr>
      </p:pic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0BA3E7E-839C-3B03-8ADF-499FFD5761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7707173"/>
              </p:ext>
            </p:extLst>
          </p:nvPr>
        </p:nvGraphicFramePr>
        <p:xfrm>
          <a:off x="1414020" y="1689393"/>
          <a:ext cx="9745566" cy="5014042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3248522">
                  <a:extLst>
                    <a:ext uri="{9D8B030D-6E8A-4147-A177-3AD203B41FA5}">
                      <a16:colId xmlns:a16="http://schemas.microsoft.com/office/drawing/2014/main" val="2903470685"/>
                    </a:ext>
                  </a:extLst>
                </a:gridCol>
                <a:gridCol w="3248522">
                  <a:extLst>
                    <a:ext uri="{9D8B030D-6E8A-4147-A177-3AD203B41FA5}">
                      <a16:colId xmlns:a16="http://schemas.microsoft.com/office/drawing/2014/main" val="1811542479"/>
                    </a:ext>
                  </a:extLst>
                </a:gridCol>
                <a:gridCol w="3248522">
                  <a:extLst>
                    <a:ext uri="{9D8B030D-6E8A-4147-A177-3AD203B41FA5}">
                      <a16:colId xmlns:a16="http://schemas.microsoft.com/office/drawing/2014/main" val="832217750"/>
                    </a:ext>
                  </a:extLst>
                </a:gridCol>
              </a:tblGrid>
              <a:tr h="353577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5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5614" marR="45614" marT="22807" marB="22807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500" b="1" dirty="0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45614" marR="45614" marT="22807" marB="22807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500" b="1">
                          <a:solidFill>
                            <a:srgbClr val="0D0D0D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Focus / Findings</a:t>
                      </a:r>
                    </a:p>
                  </a:txBody>
                  <a:tcPr marL="45614" marR="45614" marT="22807" marB="22807" anchor="b"/>
                </a:tc>
                <a:extLst>
                  <a:ext uri="{0D108BD9-81ED-4DB2-BD59-A6C34878D82A}">
                    <a16:rowId xmlns:a16="http://schemas.microsoft.com/office/drawing/2014/main" val="3898346344"/>
                  </a:ext>
                </a:extLst>
              </a:tr>
              <a:tr h="86958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an AI-based career recommendation system that suggests suitable job roles based on user skills and educational background.</a:t>
                      </a:r>
                    </a:p>
                  </a:txBody>
                  <a:tcPr marL="45614" marR="45614" marT="22807" marB="22807" anchor="ctr"/>
                </a:tc>
                <a:extLst>
                  <a:ext uri="{0D108BD9-81ED-4DB2-BD59-A6C34878D82A}">
                    <a16:rowId xmlns:a16="http://schemas.microsoft.com/office/drawing/2014/main" val="1730390674"/>
                  </a:ext>
                </a:extLst>
              </a:tr>
              <a:tr h="86958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&amp; Singh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machine learning framework for skill-gap analysis by comparing candidate profiles with industry requirements.</a:t>
                      </a:r>
                    </a:p>
                  </a:txBody>
                  <a:tcPr marL="45614" marR="45614" marT="22807" marB="22807" anchor="ctr"/>
                </a:tc>
                <a:extLst>
                  <a:ext uri="{0D108BD9-81ED-4DB2-BD59-A6C34878D82A}">
                    <a16:rowId xmlns:a16="http://schemas.microsoft.com/office/drawing/2014/main" val="3468419938"/>
                  </a:ext>
                </a:extLst>
              </a:tr>
              <a:tr h="68121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Applied NLP techniques to analyze job postings and identify trending skills across multiple industries.</a:t>
                      </a:r>
                    </a:p>
                  </a:txBody>
                  <a:tcPr marL="45614" marR="45614" marT="22807" marB="22807" anchor="ctr"/>
                </a:tc>
                <a:extLst>
                  <a:ext uri="{0D108BD9-81ED-4DB2-BD59-A6C34878D82A}">
                    <a16:rowId xmlns:a16="http://schemas.microsoft.com/office/drawing/2014/main" val="3924447233"/>
                  </a:ext>
                </a:extLst>
              </a:tr>
              <a:tr h="869584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&amp; Roy</a:t>
                      </a:r>
                    </a:p>
                  </a:txBody>
                  <a:tcPr marL="45614" marR="45614" marT="22807" marB="22807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Designed a personalized learning recommendation system that suggests courses based on user interests and career goals.</a:t>
                      </a:r>
                    </a:p>
                  </a:txBody>
                  <a:tcPr marL="45614" marR="45614" marT="22807" marB="22807" anchor="ctr"/>
                </a:tc>
                <a:extLst>
                  <a:ext uri="{0D108BD9-81ED-4DB2-BD59-A6C34878D82A}">
                    <a16:rowId xmlns:a16="http://schemas.microsoft.com/office/drawing/2014/main" val="1074348515"/>
                  </a:ext>
                </a:extLst>
              </a:tr>
              <a:tr h="1049009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45614" marR="45614" marT="22807" marB="91229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IN" sz="1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Johnson et al.</a:t>
                      </a:r>
                    </a:p>
                  </a:txBody>
                  <a:tcPr marL="45614" marR="45614" marT="22807" marB="91229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real-time employment readiness assessment platform that evaluates candidate skills and provides improvement recommendations</a:t>
                      </a:r>
                    </a:p>
                  </a:txBody>
                  <a:tcPr marL="45614" marR="45614" marT="22807" marB="91229" anchor="ctr"/>
                </a:tc>
                <a:extLst>
                  <a:ext uri="{0D108BD9-81ED-4DB2-BD59-A6C34878D82A}">
                    <a16:rowId xmlns:a16="http://schemas.microsoft.com/office/drawing/2014/main" val="1495775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72E4E-684F-B2C2-C488-6D60285A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840" y="1266491"/>
            <a:ext cx="10890929" cy="1097280"/>
          </a:xfrm>
        </p:spPr>
        <p:txBody>
          <a:bodyPr>
            <a:normAutofit/>
          </a:bodyPr>
          <a:lstStyle/>
          <a:p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Vs Proposed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2F85375-B111-FE6D-04E1-46298A29BA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2067015"/>
              </p:ext>
            </p:extLst>
          </p:nvPr>
        </p:nvGraphicFramePr>
        <p:xfrm>
          <a:off x="747179" y="2363771"/>
          <a:ext cx="9199408" cy="35892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599704">
                  <a:extLst>
                    <a:ext uri="{9D8B030D-6E8A-4147-A177-3AD203B41FA5}">
                      <a16:colId xmlns:a16="http://schemas.microsoft.com/office/drawing/2014/main" val="827694842"/>
                    </a:ext>
                  </a:extLst>
                </a:gridCol>
                <a:gridCol w="4599704">
                  <a:extLst>
                    <a:ext uri="{9D8B030D-6E8A-4147-A177-3AD203B41FA5}">
                      <a16:colId xmlns:a16="http://schemas.microsoft.com/office/drawing/2014/main" val="2710059625"/>
                    </a:ext>
                  </a:extLst>
                </a:gridCol>
              </a:tblGrid>
              <a:tr h="205951"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500" b="1">
                          <a:solidFill>
                            <a:srgbClr val="0D0D0D"/>
                          </a:solidFill>
                          <a:effectLst/>
                        </a:rPr>
                        <a:t>Existing System</a:t>
                      </a:r>
                    </a:p>
                  </a:txBody>
                  <a:tcPr marL="77232" marR="77232" marT="38616" marB="38616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1200"/>
                        </a:lnSpc>
                        <a:buNone/>
                      </a:pPr>
                      <a:r>
                        <a:rPr lang="en-IN" sz="1500" b="1">
                          <a:solidFill>
                            <a:srgbClr val="0D0D0D"/>
                          </a:solidFill>
                          <a:effectLst/>
                        </a:rPr>
                        <a:t>Proposed System</a:t>
                      </a:r>
                    </a:p>
                  </a:txBody>
                  <a:tcPr marL="77232" marR="77232" marT="38616" marB="38616" anchor="b"/>
                </a:tc>
                <a:extLst>
                  <a:ext uri="{0D108BD9-81ED-4DB2-BD59-A6C34878D82A}">
                    <a16:rowId xmlns:a16="http://schemas.microsoft.com/office/drawing/2014/main" val="2518987259"/>
                  </a:ext>
                </a:extLst>
              </a:tr>
              <a:tr h="5406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Provides generic career guidance based on predefined rules and static information.</a:t>
                      </a:r>
                    </a:p>
                  </a:txBody>
                  <a:tcPr marL="77232" marR="77232" marT="38616" marB="38616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Provides personalized career guidance based on user skills, interests, and industry requirements.</a:t>
                      </a:r>
                    </a:p>
                  </a:txBody>
                  <a:tcPr marL="77232" marR="77232" marT="38616" marB="38616" anchor="ctr"/>
                </a:tc>
                <a:extLst>
                  <a:ext uri="{0D108BD9-81ED-4DB2-BD59-A6C34878D82A}">
                    <a16:rowId xmlns:a16="http://schemas.microsoft.com/office/drawing/2014/main" val="2411732771"/>
                  </a:ext>
                </a:extLst>
              </a:tr>
              <a:tr h="5406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dirty="0">
                          <a:effectLst/>
                        </a:rPr>
                        <a:t>Does not analyze real-time job market trends and changing skill demands.</a:t>
                      </a:r>
                    </a:p>
                  </a:txBody>
                  <a:tcPr marL="77232" marR="77232" marT="38616" marB="38616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dirty="0">
                          <a:effectLst/>
                        </a:rPr>
                        <a:t>Continuously tracks and analyzes real-time industry skill demand from job portals and career websites.</a:t>
                      </a:r>
                    </a:p>
                  </a:txBody>
                  <a:tcPr marL="77232" marR="77232" marT="38616" marB="38616" anchor="ctr"/>
                </a:tc>
                <a:extLst>
                  <a:ext uri="{0D108BD9-81ED-4DB2-BD59-A6C34878D82A}">
                    <a16:rowId xmlns:a16="http://schemas.microsoft.com/office/drawing/2014/main" val="1726321386"/>
                  </a:ext>
                </a:extLst>
              </a:tr>
              <a:tr h="5406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Limited or no skill-gap identification between user skills and industry expectations.</a:t>
                      </a:r>
                    </a:p>
                  </a:txBody>
                  <a:tcPr marL="77232" marR="77232" marT="38616" marB="38616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Performs detailed skill-gap analysis and identifies missing or weak skills.</a:t>
                      </a:r>
                    </a:p>
                  </a:txBody>
                  <a:tcPr marL="77232" marR="77232" marT="38616" marB="38616" anchor="ctr"/>
                </a:tc>
                <a:extLst>
                  <a:ext uri="{0D108BD9-81ED-4DB2-BD59-A6C34878D82A}">
                    <a16:rowId xmlns:a16="http://schemas.microsoft.com/office/drawing/2014/main" val="768438018"/>
                  </a:ext>
                </a:extLst>
              </a:tr>
              <a:tr h="5406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Offers fixed learning recommendations that do not adapt to user progress.</a:t>
                      </a:r>
                    </a:p>
                  </a:txBody>
                  <a:tcPr marL="77232" marR="77232" marT="38616" marB="38616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Generates adaptive learning paths that update based on skill gaps and learning progress.</a:t>
                      </a:r>
                    </a:p>
                  </a:txBody>
                  <a:tcPr marL="77232" marR="77232" marT="38616" marB="38616" anchor="ctr"/>
                </a:tc>
                <a:extLst>
                  <a:ext uri="{0D108BD9-81ED-4DB2-BD59-A6C34878D82A}">
                    <a16:rowId xmlns:a16="http://schemas.microsoft.com/office/drawing/2014/main" val="1292056288"/>
                  </a:ext>
                </a:extLst>
              </a:tr>
              <a:tr h="540621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Focuses only on career recommendations without employability assessment.</a:t>
                      </a:r>
                    </a:p>
                  </a:txBody>
                  <a:tcPr marL="77232" marR="77232" marT="38616" marB="38616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Calculates employment readiness scores and provides improvement strategies.</a:t>
                      </a:r>
                    </a:p>
                  </a:txBody>
                  <a:tcPr marL="77232" marR="77232" marT="38616" marB="38616" anchor="ctr"/>
                </a:tc>
                <a:extLst>
                  <a:ext uri="{0D108BD9-81ED-4DB2-BD59-A6C34878D82A}">
                    <a16:rowId xmlns:a16="http://schemas.microsoft.com/office/drawing/2014/main" val="2307090344"/>
                  </a:ext>
                </a:extLst>
              </a:tr>
              <a:tr h="656468"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>
                          <a:effectLst/>
                        </a:rPr>
                        <a:t>Separate platforms are needed for career guidance, learning, and skill assessment.</a:t>
                      </a:r>
                    </a:p>
                  </a:txBody>
                  <a:tcPr marL="77232" marR="77232" marT="38616" marB="154463" anchor="ctr"/>
                </a:tc>
                <a:tc>
                  <a:txBody>
                    <a:bodyPr/>
                    <a:lstStyle/>
                    <a:p>
                      <a:pPr algn="l" fontAlgn="base">
                        <a:buNone/>
                      </a:pPr>
                      <a:r>
                        <a:rPr lang="en-US" sz="1500" dirty="0">
                          <a:effectLst/>
                        </a:rPr>
                        <a:t>Integrates skill analysis, learning recommendations, and readiness assessment into one platform.</a:t>
                      </a:r>
                    </a:p>
                  </a:txBody>
                  <a:tcPr marL="77232" marR="77232" marT="38616" marB="154463" anchor="ctr"/>
                </a:tc>
                <a:extLst>
                  <a:ext uri="{0D108BD9-81ED-4DB2-BD59-A6C34878D82A}">
                    <a16:rowId xmlns:a16="http://schemas.microsoft.com/office/drawing/2014/main" val="80756875"/>
                  </a:ext>
                </a:extLst>
              </a:tr>
            </a:tbl>
          </a:graphicData>
        </a:graphic>
      </p:graphicFrame>
      <p:pic>
        <p:nvPicPr>
          <p:cNvPr id="4" name="Picture 3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80D83D3E-6935-D9CC-10EA-FAB124BCF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5" name="Picture 4" descr="A logo of a company&#10;&#10;AI-generated content may be incorrect.">
            <a:extLst>
              <a:ext uri="{FF2B5EF4-FFF2-40B4-BE49-F238E27FC236}">
                <a16:creationId xmlns:a16="http://schemas.microsoft.com/office/drawing/2014/main" id="{199BF43B-27A7-B719-0A08-95B6FAE22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6587" y="201968"/>
            <a:ext cx="1469940" cy="124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77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8"/>
          <p:cNvSpPr txBox="1"/>
          <p:nvPr/>
        </p:nvSpPr>
        <p:spPr>
          <a:xfrm>
            <a:off x="2006013" y="416130"/>
            <a:ext cx="8245475" cy="886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1" y="0"/>
            <a:ext cx="1459642" cy="124442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401" y="58625"/>
            <a:ext cx="1543685" cy="1243965"/>
          </a:xfrm>
          <a:prstGeom prst="rect">
            <a:avLst/>
          </a:prstGeom>
        </p:spPr>
      </p:pic>
      <p:sp>
        <p:nvSpPr>
          <p:cNvPr id="2" name="AutoShape 2" descr="Career Readiness System Architecture Flowchart">
            <a:extLst>
              <a:ext uri="{FF2B5EF4-FFF2-40B4-BE49-F238E27FC236}">
                <a16:creationId xmlns:a16="http://schemas.microsoft.com/office/drawing/2014/main" id="{0B03FAA2-CCA9-6900-6D8E-D02C42E74C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96525D-B4D8-1ACC-5B12-4902E48419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84" y="1244429"/>
            <a:ext cx="10360057" cy="52234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C7BBB-090E-D5EB-07E9-3E1D4254D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2564" y="1397299"/>
            <a:ext cx="10890929" cy="109728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Industry Demand Scraping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CF626-FBD1-C121-C177-0FFED27B5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6764" y="2155412"/>
            <a:ext cx="10449916" cy="4416019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job postings from platforms such as LinkedIn, Naukri, Indeed, and company career pages to gather current market requirements.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important information including job titles, required skills, qualifications, experience levels, and job descriptions.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Cleans and preprocesses collected data by removing duplicates, irrelevant content, and formatting inconsistencies.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Natural Language Processing (NLP) and text analysis techniques to identify trending skills and technologies.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updates skill-demand information in a centralized database for further analysis and recommendations.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2247FA88-C5C1-8F25-EE02-A0476B40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1" y="325713"/>
            <a:ext cx="1329960" cy="113386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D23926A6-3491-19D3-A236-991F6BD97D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296" y="325713"/>
            <a:ext cx="1340175" cy="113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584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57BDD86E-3E77-9EF7-6FF0-B2A2B233A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41" y="325713"/>
            <a:ext cx="1329960" cy="1133868"/>
          </a:xfrm>
          <a:prstGeom prst="rect">
            <a:avLst/>
          </a:prstGeom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6D260708-92A8-88ED-3CD6-5E6666794E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9296" y="325713"/>
            <a:ext cx="1340175" cy="11338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692B6F-52D9-F374-12DA-704A20655882}"/>
              </a:ext>
            </a:extLst>
          </p:cNvPr>
          <p:cNvSpPr txBox="1"/>
          <p:nvPr/>
        </p:nvSpPr>
        <p:spPr>
          <a:xfrm>
            <a:off x="1058421" y="892647"/>
            <a:ext cx="7223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Module 1: Output</a:t>
            </a:r>
          </a:p>
        </p:txBody>
      </p:sp>
    </p:spTree>
    <p:extLst>
      <p:ext uri="{BB962C8B-B14F-4D97-AF65-F5344CB8AC3E}">
        <p14:creationId xmlns:p14="http://schemas.microsoft.com/office/powerpoint/2010/main" val="2124845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1270" y="1070231"/>
            <a:ext cx="10890929" cy="1097280"/>
          </a:xfrm>
        </p:spPr>
        <p:txBody>
          <a:bodyPr>
            <a:no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Skill Gap Mapping Module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5903" y="2017333"/>
            <a:ext cx="10156296" cy="437359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user profile details such as education, technical skills, certifications, projects, and career interests.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the user's existing skills with current industry-required skills obtained from Module 1.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missing, weak, and outdated skills that may affect employability and career growth.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a skill-match percentage and employment readiness score based on industry standards.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detailed skill-gap report highlighting strengths, weaknesses, and areas for improvement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3" y="144960"/>
            <a:ext cx="1316343" cy="112225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16" y="191770"/>
            <a:ext cx="1154134" cy="1028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21EACE01-8168-A35F-FF93-465B285D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43" y="144960"/>
            <a:ext cx="1316343" cy="112225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>
            <a:extLst>
              <a:ext uri="{FF2B5EF4-FFF2-40B4-BE49-F238E27FC236}">
                <a16:creationId xmlns:a16="http://schemas.microsoft.com/office/drawing/2014/main" id="{06ADDE98-C3D0-071B-E719-A6281BB00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1616" y="191770"/>
            <a:ext cx="1154134" cy="10286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8E68187-E68B-8C12-09DE-D66CF791D211}"/>
              </a:ext>
            </a:extLst>
          </p:cNvPr>
          <p:cNvSpPr txBox="1"/>
          <p:nvPr/>
        </p:nvSpPr>
        <p:spPr>
          <a:xfrm>
            <a:off x="1012723" y="847721"/>
            <a:ext cx="67547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Module 2: Output</a:t>
            </a:r>
          </a:p>
        </p:txBody>
      </p:sp>
    </p:spTree>
    <p:extLst>
      <p:ext uri="{BB962C8B-B14F-4D97-AF65-F5344CB8AC3E}">
        <p14:creationId xmlns:p14="http://schemas.microsoft.com/office/powerpoint/2010/main" val="3545013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5119" y="1037647"/>
            <a:ext cx="10890929" cy="1097280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Adaptive Learning Path Module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6393" y="2171516"/>
            <a:ext cx="10299207" cy="3941796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Analyzes the skill-gap report and prioritizes skills based on industry demand and career goals.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Recommends relevant courses, certifications, tutorials, and learning resources for skill development.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 personalized learning roadmap with short-term and long-term learning milestones.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user progress and continuously updates recommendations based on completed learning activities.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adaptive career guidance to help users achieve better employability and job readiness outcomes.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15" y="239290"/>
            <a:ext cx="1329960" cy="1133868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412" y="275879"/>
            <a:ext cx="1340175" cy="11338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752" y="628957"/>
            <a:ext cx="10890929" cy="109728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Module 3: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158" y="1501756"/>
            <a:ext cx="11035090" cy="48203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b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4611" y="201954"/>
            <a:ext cx="1439049" cy="12436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A6614439-2995-A4C4-7297-2E9DCE207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B2CF8021-6DB4-FDB1-CAA3-B82875DE2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611" y="201954"/>
            <a:ext cx="1439049" cy="12436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6E23219-AB24-8F4B-88E4-58117EBE87E4}"/>
              </a:ext>
            </a:extLst>
          </p:cNvPr>
          <p:cNvSpPr txBox="1"/>
          <p:nvPr/>
        </p:nvSpPr>
        <p:spPr>
          <a:xfrm>
            <a:off x="4113671" y="74680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Insights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947091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83" y="896985"/>
            <a:ext cx="10890929" cy="1097280"/>
          </a:xfrm>
        </p:spPr>
        <p:txBody>
          <a:bodyPr>
            <a:noAutofit/>
          </a:bodyPr>
          <a:lstStyle/>
          <a:p>
            <a:pPr algn="ctr"/>
            <a:r>
              <a:rPr lang="en-IN" dirty="0">
                <a:latin typeface="Times New Roman" panose="02020603050405020304"/>
                <a:cs typeface="Times New Roman" panose="02020603050405020304"/>
              </a:rPr>
              <a:t> Planning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6263" y="3171"/>
            <a:ext cx="1439049" cy="1243657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0A17484-C9C1-8A92-01B2-B04BC719C8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933" y="2339439"/>
            <a:ext cx="11748851" cy="3268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literature survey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career guidance and skill assessment systems.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 architecture, database structure, and user interface for the platform.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industry demand scraping, skill gap mapping, and adaptive learning modules.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system performance, recommendation accuracy, and user experience.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platform and validate results using real-world job market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project documentation, reports, and final presentation materials.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circular logo with a book and a caduceu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32" y="201196"/>
            <a:ext cx="1459642" cy="1244429"/>
          </a:xfrm>
          <a:prstGeom prst="rect">
            <a:avLst/>
          </a:prstGeom>
        </p:spPr>
      </p:pic>
      <p:pic>
        <p:nvPicPr>
          <p:cNvPr id="7" name="Picture 6" descr="A logo of a company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4560" y="201930"/>
            <a:ext cx="1640840" cy="12439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3149832" y="948648"/>
            <a:ext cx="7766685" cy="8559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Expected Outcomes</a:t>
            </a:r>
          </a:p>
          <a:p>
            <a:endParaRPr lang="en-I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091565" y="1875155"/>
            <a:ext cx="10525760" cy="45472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3DE31-75A2-F873-5AB6-4D278B7BF88B}"/>
              </a:ext>
            </a:extLst>
          </p:cNvPr>
          <p:cNvSpPr txBox="1"/>
          <p:nvPr/>
        </p:nvSpPr>
        <p:spPr>
          <a:xfrm>
            <a:off x="520032" y="2016210"/>
            <a:ext cx="11158219" cy="40627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real-time industry skill demand and identify trending technologies.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skill gaps by comparing user profiles with industry requirements.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personalized learning paths and certification recommendations.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employment readiness scores and career improvement suggestions.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employability through continuous skill development and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students in making informed career decisions based on market trends.</a:t>
            </a:r>
            <a:b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8FF76-6682-3B46-F43C-A3D8F3416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701" y="618186"/>
            <a:ext cx="7772400" cy="585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48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DC3674-8120-9E4C-3F82-25B5875C5EC7}"/>
              </a:ext>
            </a:extLst>
          </p:cNvPr>
          <p:cNvSpPr txBox="1"/>
          <p:nvPr/>
        </p:nvSpPr>
        <p:spPr>
          <a:xfrm>
            <a:off x="4021393" y="2413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27371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1066</Words>
  <Application>Microsoft Macintosh PowerPoint</Application>
  <PresentationFormat>Widescreen</PresentationFormat>
  <Paragraphs>126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Grandview Display</vt:lpstr>
      <vt:lpstr>Times New Roman</vt:lpstr>
      <vt:lpstr>DashVTI</vt:lpstr>
      <vt:lpstr>PowerPoint Presentation</vt:lpstr>
      <vt:lpstr>Problem Background</vt:lpstr>
      <vt:lpstr>Problem Statement</vt:lpstr>
      <vt:lpstr>Objectives</vt:lpstr>
      <vt:lpstr>Literature Review </vt:lpstr>
      <vt:lpstr>Existing Vs Proposed</vt:lpstr>
      <vt:lpstr>PowerPoint Presentation</vt:lpstr>
      <vt:lpstr>Module 1: Industry Demand Scraping Module </vt:lpstr>
      <vt:lpstr>PowerPoint Presentation</vt:lpstr>
      <vt:lpstr>Module 2: Skill Gap Mapping Module </vt:lpstr>
      <vt:lpstr>PowerPoint Presentation</vt:lpstr>
      <vt:lpstr>Module 3: Adaptive Learning Path Module </vt:lpstr>
      <vt:lpstr>    Module 3: Output</vt:lpstr>
      <vt:lpstr>PowerPoint Presentation</vt:lpstr>
      <vt:lpstr> Planning  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K</dc:creator>
  <cp:lastModifiedBy>nithish raaju</cp:lastModifiedBy>
  <cp:revision>24</cp:revision>
  <dcterms:created xsi:type="dcterms:W3CDTF">2025-10-29T07:01:00Z</dcterms:created>
  <dcterms:modified xsi:type="dcterms:W3CDTF">2026-08-06T12:55:41Z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7011DE3EE5824066A072CBDF4F8700C6_12</vt:lpwstr>
  </property>
  <property fmtid="{D5CDD505-2E9C-101B-9397-08002B2CF9AE}" pid="3" name="KSOProductBuildVer">
    <vt:lpwstr>1033-12.2.0.22549</vt:lpwstr>
  </property>
</Properties>
</file>