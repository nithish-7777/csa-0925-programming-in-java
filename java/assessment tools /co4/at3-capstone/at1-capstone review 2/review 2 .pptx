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73" r:id="rId2"/>
    <p:sldId id="257" r:id="rId3"/>
    <p:sldId id="258" r:id="rId4"/>
    <p:sldId id="262" r:id="rId5"/>
    <p:sldId id="259" r:id="rId6"/>
    <p:sldId id="279" r:id="rId7"/>
    <p:sldId id="283" r:id="rId8"/>
    <p:sldId id="274" r:id="rId9"/>
    <p:sldId id="282" r:id="rId10"/>
    <p:sldId id="276" r:id="rId11"/>
    <p:sldId id="281" r:id="rId12"/>
    <p:sldId id="264" r:id="rId13"/>
    <p:sldId id="277" r:id="rId14"/>
    <p:sldId id="266" r:id="rId15"/>
    <p:sldId id="271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/>
    <p:restoredTop sz="83664"/>
  </p:normalViewPr>
  <p:slideViewPr>
    <p:cSldViewPr snapToGrid="0">
      <p:cViewPr varScale="1">
        <p:scale>
          <a:sx n="92" d="100"/>
          <a:sy n="92" d="100"/>
        </p:scale>
        <p:origin x="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3E771-1BF8-4DE0-8F4D-11115A1FEE76}" type="datetimeFigureOut">
              <a:rPr lang="en-BB" smtClean="0"/>
              <a:t>8/20/26</a:t>
            </a:fld>
            <a:endParaRPr lang="en-B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54585-D072-4028-AA3D-9674183F316A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7791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4585-D072-4028-AA3D-9674183F316A}" type="slidenum">
              <a:rPr lang="en-BB" smtClean="0"/>
              <a:t>4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4256173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403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649286" y="4953277"/>
            <a:ext cx="3757522" cy="18443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PAPINENI SISINDRI(192324122)</a:t>
            </a:r>
          </a:p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Nithish Raaju V </a:t>
            </a:r>
          </a:p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Pavithran M </a:t>
            </a:r>
          </a:p>
          <a:p>
            <a:pPr fontAlgn="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64346" y="3896164"/>
            <a:ext cx="8210550" cy="10266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CSA0925- Programming in Java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6F7507-CEAF-5036-635F-19A2D58E769F}"/>
              </a:ext>
            </a:extLst>
          </p:cNvPr>
          <p:cNvSpPr txBox="1"/>
          <p:nvPr/>
        </p:nvSpPr>
        <p:spPr>
          <a:xfrm>
            <a:off x="854204" y="4954992"/>
            <a:ext cx="4760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Sivasankar C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Department:CSE</a:t>
            </a:r>
            <a:endParaRPr lang="en-B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92;p1" descr="SSE-Computer Science and Engineering">
            <a:extLst>
              <a:ext uri="{FF2B5EF4-FFF2-40B4-BE49-F238E27FC236}">
                <a16:creationId xmlns:a16="http://schemas.microsoft.com/office/drawing/2014/main" id="{A8D3BD59-C105-7334-DD1B-798CFE5B19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31844" y="325684"/>
            <a:ext cx="9352722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0F2FE6-FACE-9A41-4B57-67EC70D3C0E8}"/>
              </a:ext>
            </a:extLst>
          </p:cNvPr>
          <p:cNvSpPr txBox="1"/>
          <p:nvPr/>
        </p:nvSpPr>
        <p:spPr>
          <a:xfrm>
            <a:off x="1764346" y="2584323"/>
            <a:ext cx="8210549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Employment Readiness Platform Using Real-Time Industry Skill Demand Mapping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35" y="527586"/>
            <a:ext cx="10890929" cy="1097280"/>
          </a:xfrm>
        </p:spPr>
        <p:txBody>
          <a:bodyPr anchor="t">
            <a:normAutofit/>
          </a:bodyPr>
          <a:lstStyle/>
          <a:p>
            <a:pPr algn="ctr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 – REVIEW-1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22" y="1277005"/>
            <a:ext cx="10449781" cy="509863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22" y="172429"/>
            <a:ext cx="1459642" cy="1244429"/>
          </a:xfrm>
          <a:prstGeom prst="rect">
            <a:avLst/>
          </a:prstGeom>
        </p:spPr>
      </p:pic>
      <p:pic>
        <p:nvPicPr>
          <p:cNvPr id="5" name="Picture 4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F84718B-81AD-E392-D31C-CA7ACDC7C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014262"/>
              </p:ext>
            </p:extLst>
          </p:nvPr>
        </p:nvGraphicFramePr>
        <p:xfrm>
          <a:off x="393622" y="1350512"/>
          <a:ext cx="11532606" cy="5540596"/>
        </p:xfrm>
        <a:graphic>
          <a:graphicData uri="http://schemas.openxmlformats.org/drawingml/2006/table">
            <a:tbl>
              <a:tblPr/>
              <a:tblGrid>
                <a:gridCol w="5766303">
                  <a:extLst>
                    <a:ext uri="{9D8B030D-6E8A-4147-A177-3AD203B41FA5}">
                      <a16:colId xmlns:a16="http://schemas.microsoft.com/office/drawing/2014/main" val="3502768014"/>
                    </a:ext>
                  </a:extLst>
                </a:gridCol>
                <a:gridCol w="5766303">
                  <a:extLst>
                    <a:ext uri="{9D8B030D-6E8A-4147-A177-3AD203B41FA5}">
                      <a16:colId xmlns:a16="http://schemas.microsoft.com/office/drawing/2014/main" val="468448731"/>
                    </a:ext>
                  </a:extLst>
                </a:gridCol>
              </a:tblGrid>
              <a:tr h="265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Feedback Received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Corrective Actions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28815"/>
                  </a:ext>
                </a:extLst>
              </a:tr>
              <a:tr h="606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Clearly explain how industry skill requirements are collected</a:t>
                      </a: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Defined the </a:t>
                      </a: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Industry Demand Scraping Module</a:t>
                      </a: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collecting job-posting data and extracting required skills</a:t>
                      </a: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958"/>
                  </a:ext>
                </a:extLst>
              </a:tr>
              <a:tr h="606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how student skills are compared with industry requirements</a:t>
                      </a: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a clear </a:t>
                      </a: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Gap Mapping process</a:t>
                      </a: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compare student skills with industry-demanded skills</a:t>
                      </a: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152647"/>
                  </a:ext>
                </a:extLst>
              </a:tr>
              <a:tr h="606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a clear flow between the three modules</a:t>
                      </a: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Refined the architecture into a sequential flow: </a:t>
                      </a: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Industry Demand → Skill Gap → Adaptive Learning Path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847640"/>
                  </a:ext>
                </a:extLst>
              </a:tr>
              <a:tr h="436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how students provide their skill information</a:t>
                      </a: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</a:t>
                      </a: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Upload / Student Profile</a:t>
                      </a: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the input for skill identification</a:t>
                      </a: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712361"/>
                  </a:ext>
                </a:extLst>
              </a:tr>
              <a:tr h="606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personalized recommendations instead of generic suggestions</a:t>
                      </a: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the </a:t>
                      </a: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Learning Path Module</a:t>
                      </a: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generate recommendations based on identified skill gaps</a:t>
                      </a: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68372"/>
                  </a:ext>
                </a:extLst>
              </a:tr>
              <a:tr h="436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Clarify the technologies and implementation approach</a:t>
                      </a: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Defined the Java-based implementation using </a:t>
                      </a:r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Java, Spring Boot, MySQL, and supporting libraries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121" marR="71121" marT="47414" marB="474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9339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535" y="482108"/>
            <a:ext cx="10890929" cy="1097280"/>
          </a:xfrm>
        </p:spPr>
        <p:txBody>
          <a:bodyPr>
            <a:normAutofit/>
          </a:bodyPr>
          <a:lstStyle/>
          <a:p>
            <a:pPr algn="ctr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 – UPDATED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10" y="1633831"/>
            <a:ext cx="12188395" cy="530180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Made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Resume/Profile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input source.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Demand 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aata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Extraction and Processing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industry skill demand with student skill analysis.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Report and Employment Readiness 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Adaptive Learning Path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database interaction between modules.</a:t>
            </a:r>
          </a:p>
        </p:txBody>
      </p:sp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65" y="201196"/>
            <a:ext cx="1459642" cy="1244429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132" y="160139"/>
            <a:ext cx="1469940" cy="12436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1581"/>
            <a:ext cx="10890929" cy="1097280"/>
          </a:xfrm>
        </p:spPr>
        <p:txBody>
          <a:bodyPr>
            <a:normAutofit/>
          </a:bodyPr>
          <a:lstStyle/>
          <a:p>
            <a:pPr algn="ctr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Module 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2A262F-0F50-0DB9-BDA3-14AC0F642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7798" y="777922"/>
            <a:ext cx="11124304" cy="5624466"/>
          </a:xfrm>
          <a:prstGeom prst="rect">
            <a:avLst/>
          </a:prstGeom>
        </p:spPr>
      </p:pic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98" y="274770"/>
            <a:ext cx="1459642" cy="1244429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2162" y="201581"/>
            <a:ext cx="1469940" cy="1243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8"/>
          <p:cNvSpPr txBox="1"/>
          <p:nvPr/>
        </p:nvSpPr>
        <p:spPr>
          <a:xfrm>
            <a:off x="2006013" y="416130"/>
            <a:ext cx="8245475" cy="886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Industry Demand Scraping Module</a:t>
            </a:r>
          </a:p>
        </p:txBody>
      </p:sp>
      <p:pic>
        <p:nvPicPr>
          <p:cNvPr id="10" name="Picture 9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1" y="0"/>
            <a:ext cx="1459642" cy="124442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401" y="58625"/>
            <a:ext cx="1543685" cy="1243965"/>
          </a:xfrm>
          <a:prstGeom prst="rect">
            <a:avLst/>
          </a:prstGeom>
        </p:spPr>
      </p:pic>
      <p:sp>
        <p:nvSpPr>
          <p:cNvPr id="2" name="AutoShape 2" descr="Career Readiness System Architecture Flowchart">
            <a:extLst>
              <a:ext uri="{FF2B5EF4-FFF2-40B4-BE49-F238E27FC236}">
                <a16:creationId xmlns:a16="http://schemas.microsoft.com/office/drawing/2014/main" id="{0B03FAA2-CCA9-6900-6D8E-D02C42E74C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57256-A95C-52BC-0A8D-CE5913C198C4}"/>
              </a:ext>
            </a:extLst>
          </p:cNvPr>
          <p:cNvSpPr txBox="1"/>
          <p:nvPr/>
        </p:nvSpPr>
        <p:spPr>
          <a:xfrm>
            <a:off x="1201003" y="1071181"/>
            <a:ext cx="9082398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current job-market information.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skills required by companies.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frequently demanded/trending skills.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job postings / job-market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>
              <a:lnSpc>
                <a:spcPct val="150000"/>
              </a:lnSpc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→ Cleaning → Skill extraction → Demand analysis</a:t>
            </a:r>
          </a:p>
          <a:p>
            <a:pPr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Industry Skills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96B885-07B1-427D-E6AB-A92F466AF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90" y="484909"/>
            <a:ext cx="10681855" cy="616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0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5B2F13-300D-D316-D8E3-764B30A5A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3564"/>
            <a:ext cx="11277600" cy="576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56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7BBB-090E-D5EB-07E9-3E1D4254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701" y="510194"/>
            <a:ext cx="10890929" cy="1097280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Skill Gap Mapping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CF626-FBD1-C121-C177-0FFED27B5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555" y="1459581"/>
            <a:ext cx="10449916" cy="5500777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student’s existing skills.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Compare student skills with industry requirements.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Identify missing or weak skills.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Student Resume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Student Profile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Required Industry Skills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Skill extraction → Skill comparison → Gap identification → Readiness calculation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Skill Gap Report + Employment Readiness Score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circular logo with a book and a caduceus&#10;&#10;AI-generated content may be incorrect.">
            <a:extLst>
              <a:ext uri="{FF2B5EF4-FFF2-40B4-BE49-F238E27FC236}">
                <a16:creationId xmlns:a16="http://schemas.microsoft.com/office/drawing/2014/main" id="{2247FA88-C5C1-8F25-EE02-A0476B40A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41" y="325713"/>
            <a:ext cx="1329960" cy="1133868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D23926A6-3491-19D3-A236-991F6BD97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296" y="325713"/>
            <a:ext cx="1340175" cy="113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84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F133D4-31A1-9447-4A02-9D4105396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2" y="720436"/>
            <a:ext cx="10335491" cy="573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24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circular logo with a book and a caduceus&#10;&#10;AI-generated content may be incorrect.">
            <a:extLst>
              <a:ext uri="{FF2B5EF4-FFF2-40B4-BE49-F238E27FC236}">
                <a16:creationId xmlns:a16="http://schemas.microsoft.com/office/drawing/2014/main" id="{57BDD86E-3E77-9EF7-6FF0-B2A2B233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41" y="325713"/>
            <a:ext cx="1329960" cy="1133868"/>
          </a:xfrm>
          <a:prstGeom prst="rect">
            <a:avLst/>
          </a:prstGeom>
        </p:spPr>
      </p:pic>
      <p:pic>
        <p:nvPicPr>
          <p:cNvPr id="9" name="Picture 8" descr="A logo of a company&#10;&#10;AI-generated content may be incorrect.">
            <a:extLst>
              <a:ext uri="{FF2B5EF4-FFF2-40B4-BE49-F238E27FC236}">
                <a16:creationId xmlns:a16="http://schemas.microsoft.com/office/drawing/2014/main" id="{6D260708-92A8-88ED-3CD6-5E6666794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296" y="325713"/>
            <a:ext cx="1340175" cy="1133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692B6F-52D9-F374-12DA-704A20655882}"/>
              </a:ext>
            </a:extLst>
          </p:cNvPr>
          <p:cNvSpPr txBox="1"/>
          <p:nvPr/>
        </p:nvSpPr>
        <p:spPr>
          <a:xfrm>
            <a:off x="2484300" y="615648"/>
            <a:ext cx="7223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Adaptive Learning Path Module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4DCE65-57CB-D0D2-5E3A-8D5C3D08B601}"/>
              </a:ext>
            </a:extLst>
          </p:cNvPr>
          <p:cNvSpPr txBox="1"/>
          <p:nvPr/>
        </p:nvSpPr>
        <p:spPr>
          <a:xfrm>
            <a:off x="1920312" y="1459581"/>
            <a:ext cx="7787388" cy="58594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skill gaps into learning recommendations.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skills according to industry demand.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personalized learning roadmap.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Report + Career Goals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prioritization → Course/resource mapping → Learning-path generation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Roadmap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845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DEAD68-6205-9315-CAF1-5EA2EAFEA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2" y="678873"/>
            <a:ext cx="10626436" cy="581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09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197" y="397308"/>
            <a:ext cx="10890929" cy="1097280"/>
          </a:xfrm>
        </p:spPr>
        <p:txBody>
          <a:bodyPr>
            <a:no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 –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25947"/>
            <a:ext cx="12216831" cy="4373593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Java/Spring Boot backend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core modules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Resume/Profile input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Skill Extraction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Readiness Score Calculation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Recommendations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43" y="144960"/>
            <a:ext cx="1316343" cy="1122258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1616" y="191770"/>
            <a:ext cx="1154134" cy="10286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ular logo with a book and a caduceus&#10;&#10;AI-generated content may be incorrect.">
            <a:extLst>
              <a:ext uri="{FF2B5EF4-FFF2-40B4-BE49-F238E27FC236}">
                <a16:creationId xmlns:a16="http://schemas.microsoft.com/office/drawing/2014/main" id="{21EACE01-8168-A35F-FF93-465B285D5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43" y="144960"/>
            <a:ext cx="1316343" cy="1122258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06ADDE98-C3D0-071B-E719-A6281BB00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1616" y="191770"/>
            <a:ext cx="1154134" cy="10286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E68187-E68B-8C12-09DE-D66CF791D211}"/>
              </a:ext>
            </a:extLst>
          </p:cNvPr>
          <p:cNvSpPr txBox="1"/>
          <p:nvPr/>
        </p:nvSpPr>
        <p:spPr>
          <a:xfrm>
            <a:off x="3731320" y="496865"/>
            <a:ext cx="675476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 – User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DD603-4A9F-9394-D1BC-8A5E0E8F8681}"/>
              </a:ext>
            </a:extLst>
          </p:cNvPr>
          <p:cNvSpPr txBox="1"/>
          <p:nvPr/>
        </p:nvSpPr>
        <p:spPr>
          <a:xfrm>
            <a:off x="293228" y="1388505"/>
            <a:ext cx="11802144" cy="5617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Screens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Registration/Login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Dashboard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Upload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Skill Demand Dashboard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Analysis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Readiness Score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Progress Tracking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UI Flow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→ Upload Resume → View Skills → Skill Gap → Readiness Score → Learning Path</a:t>
            </a:r>
          </a:p>
        </p:txBody>
      </p:sp>
    </p:spTree>
    <p:extLst>
      <p:ext uri="{BB962C8B-B14F-4D97-AF65-F5344CB8AC3E}">
        <p14:creationId xmlns:p14="http://schemas.microsoft.com/office/powerpoint/2010/main" val="3545013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7801" y="795252"/>
            <a:ext cx="10890929" cy="1097280"/>
          </a:xfrm>
        </p:spPr>
        <p:txBody>
          <a:bodyPr>
            <a:no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8 – Testing</a:t>
            </a:r>
          </a:p>
        </p:txBody>
      </p:sp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32" y="201196"/>
            <a:ext cx="1459642" cy="1244429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263" y="3171"/>
            <a:ext cx="1439049" cy="1243657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0A17484-C9C1-8A92-01B2-B04BC719C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32" y="1281024"/>
            <a:ext cx="7173176" cy="5576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Approach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Tested individual module functions.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Tested communication between the three modules.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Testing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Verified data insertion, retrieval, and updates.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Testing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Tested invalid/incomplete student information and resume uploads.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Verified complete workflows from input to recommendation.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Testing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Checked navigation, forms, and dashboard functionality.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5D70BB7-EC73-5E6A-CCFA-9B68BB55B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14888"/>
              </p:ext>
            </p:extLst>
          </p:nvPr>
        </p:nvGraphicFramePr>
        <p:xfrm>
          <a:off x="5918345" y="2487873"/>
          <a:ext cx="10891836" cy="3413760"/>
        </p:xfrm>
        <a:graphic>
          <a:graphicData uri="http://schemas.openxmlformats.org/drawingml/2006/table">
            <a:tbl>
              <a:tblPr/>
              <a:tblGrid>
                <a:gridCol w="5445918">
                  <a:extLst>
                    <a:ext uri="{9D8B030D-6E8A-4147-A177-3AD203B41FA5}">
                      <a16:colId xmlns:a16="http://schemas.microsoft.com/office/drawing/2014/main" val="4141287642"/>
                    </a:ext>
                  </a:extLst>
                </a:gridCol>
                <a:gridCol w="5445918">
                  <a:extLst>
                    <a:ext uri="{9D8B030D-6E8A-4147-A177-3AD203B41FA5}">
                      <a16:colId xmlns:a16="http://schemas.microsoft.com/office/drawing/2014/main" val="2178887629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37346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08009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01595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928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33706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6625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1046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3337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32" y="201196"/>
            <a:ext cx="1459642" cy="1244429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560" y="201930"/>
            <a:ext cx="1640840" cy="12439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149832" y="948648"/>
            <a:ext cx="7766685" cy="855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9 – Challenges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091565" y="1875155"/>
            <a:ext cx="10525760" cy="4547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3DE31-75A2-F873-5AB6-4D278B7BF88B}"/>
              </a:ext>
            </a:extLst>
          </p:cNvPr>
          <p:cNvSpPr txBox="1"/>
          <p:nvPr/>
        </p:nvSpPr>
        <p:spPr>
          <a:xfrm>
            <a:off x="520032" y="2016210"/>
            <a:ext cx="11158219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Data Collection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Job portals have different formats and data structures.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Availability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Maintaining regularly updated industry skill information.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Different resumes have different formats and structures.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Extraction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Identifying technical skills accurately from unstructured text.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Matching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Handling different names for similar skills, such as JavaScript and JS.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Accuracy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Mapping identified skill gaps to suitable learning resources.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Maintaining consistent data between modules.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Connecting all three modules into one complete workflow.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DC3674-8120-9E4C-3F82-25B5875C5EC7}"/>
              </a:ext>
            </a:extLst>
          </p:cNvPr>
          <p:cNvSpPr txBox="1"/>
          <p:nvPr/>
        </p:nvSpPr>
        <p:spPr>
          <a:xfrm>
            <a:off x="4021393" y="241333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27371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675</Words>
  <Application>Microsoft Macintosh PowerPoint</Application>
  <PresentationFormat>Widescreen</PresentationFormat>
  <Paragraphs>122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Grandview Display</vt:lpstr>
      <vt:lpstr>Times New Roman</vt:lpstr>
      <vt:lpstr>DashVTI</vt:lpstr>
      <vt:lpstr>PowerPoint Presentation</vt:lpstr>
      <vt:lpstr>SLIDE 1 – REVIEW-1 FEEDBACK</vt:lpstr>
      <vt:lpstr>SLIDE 2 – UPDATED ARCHITECTURE</vt:lpstr>
      <vt:lpstr>Final Module Flow</vt:lpstr>
      <vt:lpstr>PowerPoint Presentation</vt:lpstr>
      <vt:lpstr>PowerPoint Presentation</vt:lpstr>
      <vt:lpstr>PowerPoint Presentation</vt:lpstr>
      <vt:lpstr>Module 2: Skill Gap Mapping Module</vt:lpstr>
      <vt:lpstr>PowerPoint Presentation</vt:lpstr>
      <vt:lpstr>PowerPoint Presentation</vt:lpstr>
      <vt:lpstr>PowerPoint Presentation</vt:lpstr>
      <vt:lpstr>Slide 6 – Implementation</vt:lpstr>
      <vt:lpstr>PowerPoint Presentation</vt:lpstr>
      <vt:lpstr>Slide 8 – Testing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K</dc:creator>
  <cp:lastModifiedBy>nithish raaju</cp:lastModifiedBy>
  <cp:revision>27</cp:revision>
  <dcterms:created xsi:type="dcterms:W3CDTF">2025-10-29T07:01:00Z</dcterms:created>
  <dcterms:modified xsi:type="dcterms:W3CDTF">2026-08-20T05:26:45Z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7011DE3EE5824066A072CBDF4F8700C6_12</vt:lpwstr>
  </property>
  <property fmtid="{D5CDD505-2E9C-101B-9397-08002B2CF9AE}" pid="3" name="KSOProductBuildVer">
    <vt:lpwstr>1033-12.2.0.22549</vt:lpwstr>
  </property>
</Properties>
</file>